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4BF9316-2B59-8C1E-EE2F-2BF86B60CC16}">
          <p14:sldIdLst>
            <p14:sldId id="256"/>
          </p14:sldIdLst>
        </p14:section>
        <p14:section name="Le projet" id="{B8DAFEFF-5B41-A7DB-0331-6468F9E9B6C8}">
          <p14:sldIdLst>
            <p14:sldId id="257"/>
            <p14:sldId id="258"/>
            <p14:sldId id="259"/>
          </p14:sldIdLst>
        </p14:section>
        <p14:section name="Démonstration" id="{74AC3F32-81DB-ADF7-D6B8-58A9090A8632}">
          <p14:sldIdLst>
            <p14:sldId id="260"/>
          </p14:sldIdLst>
        </p14:section>
        <p14:section name="Coulisses" id="{BE06F075-0464-AEE4-C415-F409E963F18E}">
          <p14:sldIdLst>
            <p14:sldId id="261"/>
            <p14:sldId id="262"/>
            <p14:sldId id="263"/>
            <p14:sldId id="264"/>
          </p14:sldIdLst>
        </p14:section>
        <p14:section name="Clôture" id="{C61DD5BA-67D1-0CAE-B398-26F3BFFA2A8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4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CHRISTIAN — 0:40 (fin à 0:40)
« Mesdames et messieurs les membres du jury, bonjour, et merci à Orange Digital Center de nous offrir cette scène. »
Deux secondes de silence, regarder le jury.
« Je commence par une question : quel est le capital social minimum d'une société anonyme dans l'espace OHADA ? » (pause)
« Pourriez-vous me citer l'article qui le fixe ? C'est le problème que nous avons voulu résoudre. »
Se présenter : Christian Bitep, chef du groupe 6, avec Angel Diloua et Fidèle Elock.
« ChatDocs OHADA : le droit OHADA et la fiscalité camerounaise, preuve à l'appui. » → passer la parole à Angel.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ANGEL — 1:00 (fin à 1:40)
17 pays, 10 actes uniformes, plus les codes camerounais : plus de 5 000 articles dispersés dans des PDF.
Retrouver l'article exact prend des heures.
Les IA grand public répondent toujours, même quand elles ne savent pas, et inventent des références.
« En droit, une référence inventée n'est pas une petite erreur : c'est un dossier perdu, une amende, un contrat attaquable. »
Notre public : ceux qui répondent de leurs réponses. → passer la parole à Fidèle.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FIDÈLE — 0:40 (fin à 2:20)
« Vous posez votre question en français courant, et ChatDocs répond en citant l'article qui fonde sa réponse, avec son texte officiel. »
Quand les textes ne permettent pas de répondre, l'assistant le dit : notre fonctionnalité la plus importante.
Chaque article cité est vérifié avant affichage. → passer la parole à Angel.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ANGEL — 0:50 (fin à 3:10)
Chat sourcé (démo dans un instant).
Bibliothèque : 14 textes, 5 563 articles, gratuite et sans compte.
Calculateurs fiscaux : TVA, IS, IRPP, patente, chaque résultat cite l'article du CGI.
Forfaits payables par Orange Money et MTN MoMo : au Cameroun, c'est ainsi que l'on paie. Version Android.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CHRISTIAN parle, FIDÈLE au clavier — 2:30 (fin à 5:40)
1. « Quel est le capital social minimum d'une société anonyme ? » → 10 M FCFA, art. 387 AUSCGIE ; 100 M si appel public à l'épargne, art. 824. « Vous vous souvenez de ma question d'ouverture ? »
2. Clic sur la citation : « Le juriste n'a pas à nous croire sur parole : il vérifie en un clic. »
3. « Délai de convocation d'une AG de SARL ? » → 15 jours, art. 338.
4. Hors corpus : « Conditions pour obtenir la nationalité camerounaise ? » → refus. « C'est ce qui nous distingue d'un chatbot généraliste. »
CONNEXION PERDUE : « La connexion nous lâche ; voici exactement ce que vous auriez vu. » → capture ou vidéo, même commentaire.
ATTENTE &gt; 20 s : « Chaque citation que vous allez voir a déjà été vérifiée contre le texte avant d'apparaître.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FIDÈLE — 0:50 (fin à 6:30)
Angular 22 → API Python FastAPI → PostgreSQL + pgvector (recherche par le sens).
Gemini transforme la question en vecteur ; Claude rédige à partir des seuls articles retrouvés.
Hébergé sur Render : une API Python avec base vectorielle a besoin d'un serveur permanent (d'où pas Vercel).
Plus de 520 tests automatisés : jamais un article cité qui n'ait été fourni.
(Si la démo a débordé : deux phrases seulement.)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— 15 s chacun (fin à 7:15)
CHRISTIAN : « Chef de groupe, j'ai construit le backend : l'API, la recherche dans les articles et le branchement des IA. Ce dont je suis le plus fier : la vérification de chaque citation avant affichage. »
ANGEL : « J'ai construit le frontend : l'interface Angular que vous avez vue, du chat à la bibliothèque, pensée aussi pour le téléphone. »
FIDÈLE : « Je me suis occupé des données : extraire les textes officiels, les découper article par article, et les vectoriser pour la recherche.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CHRISTIAN — 1:00 (fin à 8:15)
1. Base gratuite expirée après 30 jours, appli hors service sans qu'on le sache → migration vers Neon + sonde d'alerte. « Ce qui n'est pas surveillé finit par tomber en silence. »
2. L'IA a cité un article jamais fourni → vérification systématique + un test par cas. Le dernier cas trouvé et corrigé hier soir.
3. Quota gratuit ≈ 1 000 articles/jour → droit des sociétés et fiscalité traités en priorité.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ANGEL — 0:40 (fin à 8:55)
Codes fiscaux des autres pays OHADA.
Justesse mesurée sur des questions validées par des juristes.
Temps de réponse réduit (≈ 10 s aujourd'hui).
Publication sur le Play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CHRISTIAN — 0:25 (fin à 9:20)
« En droit, une réponse sans article n'est pas une réponse. ChatDocs OHADA vous donne l'article. »
Liens à l'écran. « Merci à Orange Digital Center et à nos formateurs : ce projet est né ici. » « Merci de votre attention ; nous sommes prêts pour vos questions. »
Rester debout tous les trois ; ne pas changer de slide pendant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 Lagos" descr="C:\Users\CHRISTIAN\AppData\Local\Temp\claude\C--Users-CHRISTIAN-Documents-ODC-ANGULAR-Projet-de-groupe--Groupe-6--ChatDoc-OHADA-ChatDoc-OHADA\e3a784e3-093d-4409-9c15-45bcf5c2408d\scratchpad\deck\fond-lag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oile"/>
          <p:cNvSpPr/>
          <p:nvPr/>
        </p:nvSpPr>
        <p:spPr>
          <a:xfrm>
            <a:off x="21266" y="0"/>
            <a:ext cx="12191695" cy="6858000"/>
          </a:xfrm>
          <a:prstGeom prst="rect">
            <a:avLst/>
          </a:prstGeom>
          <a:solidFill>
            <a:schemeClr val="tx2">
              <a:alpha val="88000"/>
            </a:schemeClr>
          </a:solidFill>
          <a:ln/>
        </p:spPr>
        <p:txBody>
          <a:bodyPr/>
          <a:p/>
        </p:txBody>
      </p:sp>
      <p:pic>
        <p:nvPicPr>
          <p:cNvPr id="4" name="Blason" descr="C:\Users\CHRISTIAN\AppData\Local\Temp\claude\C--Users-CHRISTIAN-Documents-ODC-ANGULAR-Projet-de-groupe--Groupe-6--ChatDoc-OHADA-ChatDoc-OHADA\e3a784e3-093d-4409-9c15-45bcf5c2408d\scratchpad\deck\bla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284" y="521469"/>
            <a:ext cx="1658679" cy="2056762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ChatDocs OHADA</a:t>
            </a:r>
            <a:endParaRPr lang="en-US" sz="6000" dirty="0"/>
          </a:p>
        </p:txBody>
      </p:sp>
      <p:sp>
        <p:nvSpPr>
          <p:cNvPr id="6" name="Accroche"/>
          <p:cNvSpPr txBox="1"/>
          <p:nvPr/>
        </p:nvSpPr>
        <p:spPr>
          <a:xfrm>
            <a:off x="731519" y="3474720"/>
            <a:ext cx="735985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chemeClr val="accent1"/>
                </a:solidFill>
              </a:rPr>
              <a:t>Le droit OHADA et la fiscalité camerounaise, preuve à l'appui</a:t>
            </a:r>
            <a:endParaRPr lang="en-US" sz="2800" dirty="0"/>
          </a:p>
        </p:txBody>
      </p:sp>
      <p:sp>
        <p:nvSpPr>
          <p:cNvPr id="7" name="Équipe"/>
          <p:cNvSpPr txBox="1"/>
          <p:nvPr/>
        </p:nvSpPr>
        <p:spPr>
          <a:xfrm>
            <a:off x="731520" y="4846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Groupe 6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Bitep Christian  ·  Diloua Angel  ·  Elock Fidèle</a:t>
            </a:r>
            <a:endParaRPr lang="en-US" sz="2400" dirty="0"/>
          </a:p>
        </p:txBody>
      </p:sp>
      <p:sp>
        <p:nvSpPr>
          <p:cNvPr id="20" name="Mention ODC"/>
          <p:cNvSpPr txBox="1"/>
          <p:nvPr/>
        </p:nvSpPr>
        <p:spPr>
          <a:xfrm>
            <a:off x="731520" y="585216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EEF1F7"/>
                </a:solidFill>
              </a:rPr>
              <a:t>Projet réalisé dans le cadre de la formation </a:t>
            </a:r>
            <a:r>
              <a:rPr sz="2400" b="1">
                <a:solidFill>
                  <a:srgbClr val="C9A227"/>
                </a:solidFill>
              </a:rPr>
              <a:t>Angular Talent Lab</a:t>
            </a:r>
          </a:p>
          <a:p>
            <a:r>
              <a:rPr sz="2400" b="1">
                <a:solidFill>
                  <a:srgbClr val="EEF1F7"/>
                </a:solidFill>
              </a:rPr>
              <a:t>Orange Digital Center (ODC)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Trouver la règle exacte prend des heures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5"/>
                </a:solidFill>
              </a:rPr>
              <a:t>17 pays, 10 actes uniformes, un code des impôts : des milliers d'articles dispersés dans des PDF. Et les IA généralistes inventent des références.</a:t>
            </a:r>
            <a:endParaRPr lang="en-US" sz="2400" dirty="0"/>
          </a:p>
        </p:txBody>
      </p:sp>
      <p:sp>
        <p:nvSpPr>
          <p:cNvPr id="4" name="Carte Avocats et juristes"/>
          <p:cNvSpPr/>
          <p:nvPr/>
        </p:nvSpPr>
        <p:spPr>
          <a:xfrm>
            <a:off x="731520" y="2971800"/>
            <a:ext cx="33832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5" name="Avocats et juristes — pastille"/>
          <p:cNvSpPr/>
          <p:nvPr/>
        </p:nvSpPr>
        <p:spPr>
          <a:xfrm>
            <a:off x="1051560" y="3246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vocats et juristes —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3465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Avocats et juristes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846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L'article exact, prêt à citer</a:t>
            </a:r>
            <a:endParaRPr lang="en-US" sz="2400" dirty="0"/>
          </a:p>
        </p:txBody>
      </p:sp>
      <p:sp>
        <p:nvSpPr>
          <p:cNvPr id="9" name="Carte Experts-comptables"/>
          <p:cNvSpPr/>
          <p:nvPr/>
        </p:nvSpPr>
        <p:spPr>
          <a:xfrm>
            <a:off x="4389120" y="2971800"/>
            <a:ext cx="33832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10" name="Experts-comptables — pastille"/>
          <p:cNvSpPr/>
          <p:nvPr/>
        </p:nvSpPr>
        <p:spPr>
          <a:xfrm>
            <a:off x="4709160" y="3246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Experts-comptables —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4655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Experts-comptables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846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L'obligation fiscale, sourcée</a:t>
            </a:r>
            <a:endParaRPr lang="en-US" sz="2400" dirty="0"/>
          </a:p>
        </p:txBody>
      </p:sp>
      <p:sp>
        <p:nvSpPr>
          <p:cNvPr id="14" name="Carte Entrepreneurs"/>
          <p:cNvSpPr/>
          <p:nvPr/>
        </p:nvSpPr>
        <p:spPr>
          <a:xfrm>
            <a:off x="8046720" y="2971800"/>
            <a:ext cx="33832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15" name="Entrepreneurs — pastille"/>
          <p:cNvSpPr/>
          <p:nvPr/>
        </p:nvSpPr>
        <p:spPr>
          <a:xfrm>
            <a:off x="8366760" y="3246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Entrepreneurs —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34655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Entrepreneurs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846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Ce que la loi impose avant d'agir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question en français courant, une réponse qui cite l'article qui la fonde. Sinon, l'assistant dit qu'il ne sait pas.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chemeClr val="accent1"/>
                </a:solidFill>
              </a:rPr>
              <a:t>Chaque citation est vérifiée contre le texte officiel avant affichage.</a:t>
            </a:r>
            <a:endParaRPr lang="en-US" sz="2400" dirty="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clés</a:t>
            </a:r>
            <a:endParaRPr lang="en-US" sz="4000" dirty="0"/>
          </a:p>
        </p:txBody>
      </p:sp>
      <p:pic>
        <p:nvPicPr>
          <p:cNvPr id="3" name="Capture chat" descr="C:\Users\CHRISTIAN\AppData\Local\Temp\claude\C--Users-CHRISTIAN-Documents-ODC-ANGULAR-Projet-de-groupe--Groupe-6--ChatDoc-OHADA-ChatDoc-OHADA\e3a784e3-093d-4409-9c15-45bcf5c2408d\scratchpad\deck\captures\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66240"/>
            <a:ext cx="3017520" cy="1788160"/>
          </a:xfrm>
          <a:prstGeom prst="rect">
            <a:avLst/>
          </a:prstGeom>
        </p:spPr>
      </p:pic>
      <p:sp>
        <p:nvSpPr>
          <p:cNvPr id="4" name="Bord chat"/>
          <p:cNvSpPr/>
          <p:nvPr/>
        </p:nvSpPr>
        <p:spPr>
          <a:xfrm>
            <a:off x="731520" y="1666240"/>
            <a:ext cx="3017520" cy="1788160"/>
          </a:xfrm>
          <a:prstGeom prst="rect">
            <a:avLst/>
          </a:prstGeom>
          <a:ln w="12700">
            <a:solidFill>
              <a:srgbClr val="E2DED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93192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Chat sourcé</a:t>
            </a:r>
            <a:endParaRPr lang="en-US" sz="2400" dirty="0"/>
          </a:p>
        </p:txBody>
      </p:sp>
      <p:pic>
        <p:nvPicPr>
          <p:cNvPr id="6" name="Capture bibliotheque" descr="C:\Users\CHRISTIAN\AppData\Local\Temp\claude\C--Users-CHRISTIAN-Documents-ODC-ANGULAR-Projet-de-groupe--Groupe-6--ChatDoc-OHADA-ChatDoc-OHADA\e3a784e3-093d-4409-9c15-45bcf5c2408d\scratchpad\deck\captures\bibliotheq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13293"/>
            <a:ext cx="3017520" cy="2094055"/>
          </a:xfrm>
          <a:prstGeom prst="rect">
            <a:avLst/>
          </a:prstGeom>
        </p:spPr>
      </p:pic>
      <p:sp>
        <p:nvSpPr>
          <p:cNvPr id="7" name="Bord bibliotheque"/>
          <p:cNvSpPr/>
          <p:nvPr/>
        </p:nvSpPr>
        <p:spPr>
          <a:xfrm>
            <a:off x="6217920" y="1513293"/>
            <a:ext cx="3017520" cy="2094055"/>
          </a:xfrm>
          <a:prstGeom prst="rect">
            <a:avLst/>
          </a:prstGeom>
          <a:ln w="12700">
            <a:solidFill>
              <a:srgbClr val="E2DED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41832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Bibliothèque</a:t>
            </a:r>
            <a:endParaRPr lang="en-US" sz="2400" dirty="0"/>
          </a:p>
        </p:txBody>
      </p:sp>
      <p:pic>
        <p:nvPicPr>
          <p:cNvPr id="9" name="Capture calculateurs" descr="C:\Users\CHRISTIAN\AppData\Local\Temp\claude\C--Users-CHRISTIAN-Documents-ODC-ANGULAR-Projet-de-groupe--Groupe-6--ChatDoc-OHADA-ChatDoc-OHADA\e3a784e3-093d-4409-9c15-45bcf5c2408d\scratchpad\deck\captures\calculate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33053"/>
            <a:ext cx="3017520" cy="975174"/>
          </a:xfrm>
          <a:prstGeom prst="rect">
            <a:avLst/>
          </a:prstGeom>
        </p:spPr>
      </p:pic>
      <p:sp>
        <p:nvSpPr>
          <p:cNvPr id="10" name="Bord calculateurs"/>
          <p:cNvSpPr/>
          <p:nvPr/>
        </p:nvSpPr>
        <p:spPr>
          <a:xfrm>
            <a:off x="731520" y="4633053"/>
            <a:ext cx="3017520" cy="975174"/>
          </a:xfrm>
          <a:prstGeom prst="rect">
            <a:avLst/>
          </a:prstGeom>
          <a:ln w="12700">
            <a:solidFill>
              <a:srgbClr val="E2DED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3931920" y="4754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Calculateurs fiscaux</a:t>
            </a:r>
            <a:endParaRPr lang="en-US" sz="2400" dirty="0"/>
          </a:p>
        </p:txBody>
      </p:sp>
      <p:pic>
        <p:nvPicPr>
          <p:cNvPr id="12" name="Capture forfaits" descr="C:\Users\CHRISTIAN\AppData\Local\Temp\claude\C--Users-CHRISTIAN-Documents-ODC-ANGULAR-Projet-de-groupe--Groupe-6--ChatDoc-OHADA-ChatDoc-OHADA\e3a784e3-093d-4409-9c15-45bcf5c2408d\scratchpad\deck\captures\forfa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358640"/>
            <a:ext cx="3017520" cy="1524000"/>
          </a:xfrm>
          <a:prstGeom prst="rect">
            <a:avLst/>
          </a:prstGeom>
        </p:spPr>
      </p:pic>
      <p:sp>
        <p:nvSpPr>
          <p:cNvPr id="13" name="Bord forfaits"/>
          <p:cNvSpPr/>
          <p:nvPr/>
        </p:nvSpPr>
        <p:spPr>
          <a:xfrm>
            <a:off x="6217920" y="4358640"/>
            <a:ext cx="3017520" cy="1524000"/>
          </a:xfrm>
          <a:prstGeom prst="rect">
            <a:avLst/>
          </a:prstGeom>
          <a:ln w="12700">
            <a:solidFill>
              <a:srgbClr val="E2DED2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418320" y="4754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Orange Money et MoMo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 live</a:t>
            </a:r>
            <a:endParaRPr lang="en-US" sz="4000" dirty="0"/>
          </a:p>
        </p:txBody>
      </p:sp>
      <p:sp>
        <p:nvSpPr>
          <p:cNvPr id="3" name="Démo — pastille"/>
          <p:cNvSpPr/>
          <p:nvPr/>
        </p:nvSpPr>
        <p:spPr>
          <a:xfrm>
            <a:off x="731520" y="15544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Démo —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18178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03120" y="1691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chatdocs-web.onrender.com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92608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Capital minimum d'une SA 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Délai de convocation d'une AG de SARL 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Clic sur une citation : le texte officiel</a:t>
            </a:r>
            <a:endParaRPr lang="en-US" sz="2400" dirty="0"/>
          </a:p>
        </p:txBody>
      </p:sp>
      <p:pic>
        <p:nvPicPr>
          <p:cNvPr id="7" name="Capture demo" descr="C:\Users\CHRISTIAN\AppData\Local\Temp\claude\C--Users-CHRISTIAN-Documents-ODC-ANGULAR-Projet-de-groupe--Groupe-6--ChatDoc-OHADA-ChatDoc-OHADA\e3a784e3-093d-4409-9c15-45bcf5c2408d\scratchpad\deck\captures\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318764"/>
            <a:ext cx="5120640" cy="2140712"/>
          </a:xfrm>
          <a:prstGeom prst="rect">
            <a:avLst/>
          </a:prstGeom>
        </p:spPr>
      </p:pic>
      <p:sp>
        <p:nvSpPr>
          <p:cNvPr id="8" name="Bord demo"/>
          <p:cNvSpPr/>
          <p:nvPr/>
        </p:nvSpPr>
        <p:spPr>
          <a:xfrm>
            <a:off x="6309360" y="3318764"/>
            <a:ext cx="5120640" cy="2140712"/>
          </a:xfrm>
          <a:prstGeom prst="rect">
            <a:avLst/>
          </a:prstGeom>
          <a:ln w="12700">
            <a:solidFill>
              <a:srgbClr val="E2DED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</a:t>
            </a:r>
            <a:endParaRPr lang="en-US" sz="4000" dirty="0"/>
          </a:p>
        </p:txBody>
      </p:sp>
      <p:sp>
        <p:nvSpPr>
          <p:cNvPr id="3" name="Angular 22 — pastille"/>
          <p:cNvSpPr/>
          <p:nvPr/>
        </p:nvSpPr>
        <p:spPr>
          <a:xfrm>
            <a:off x="1508760" y="16002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Angular 22 —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162" y="184160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88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Angular 22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5"/>
                </a:solidFill>
              </a:rPr>
              <a:t>interface web</a:t>
            </a:r>
            <a:endParaRPr lang="en-US" sz="2400" dirty="0"/>
          </a:p>
        </p:txBody>
      </p:sp>
      <p:sp>
        <p:nvSpPr>
          <p:cNvPr id="7" name="Flèche 0"/>
          <p:cNvSpPr/>
          <p:nvPr/>
        </p:nvSpPr>
        <p:spPr>
          <a:xfrm>
            <a:off x="2944368" y="1938528"/>
            <a:ext cx="411480" cy="32918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8" name="FastAPI — pastille"/>
          <p:cNvSpPr/>
          <p:nvPr/>
        </p:nvSpPr>
        <p:spPr>
          <a:xfrm>
            <a:off x="4297680" y="16002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astAPI —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082" y="184160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0440" y="2788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FastAPI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5"/>
                </a:solidFill>
              </a:rPr>
              <a:t>API Python</a:t>
            </a:r>
            <a:endParaRPr lang="en-US" sz="2400" dirty="0"/>
          </a:p>
        </p:txBody>
      </p:sp>
      <p:sp>
        <p:nvSpPr>
          <p:cNvPr id="12" name="Flèche 1"/>
          <p:cNvSpPr/>
          <p:nvPr/>
        </p:nvSpPr>
        <p:spPr>
          <a:xfrm>
            <a:off x="5733288" y="1938528"/>
            <a:ext cx="411480" cy="32918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3" name="PostgreSQL + pgvector — pastille"/>
          <p:cNvSpPr/>
          <p:nvPr/>
        </p:nvSpPr>
        <p:spPr>
          <a:xfrm>
            <a:off x="7086600" y="16002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PostgreSQL + pgvector —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002" y="184160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09360" y="2788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PostgreSQL + pgvector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5"/>
                </a:solidFill>
              </a:rPr>
              <a:t>Neon</a:t>
            </a:r>
            <a:endParaRPr lang="en-US" sz="2400" dirty="0"/>
          </a:p>
        </p:txBody>
      </p:sp>
      <p:sp>
        <p:nvSpPr>
          <p:cNvPr id="17" name="Flèche 2"/>
          <p:cNvSpPr/>
          <p:nvPr/>
        </p:nvSpPr>
        <p:spPr>
          <a:xfrm>
            <a:off x="8522208" y="1938528"/>
            <a:ext cx="411480" cy="32918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8" name="Gemini + Claude — pastille"/>
          <p:cNvSpPr/>
          <p:nvPr/>
        </p:nvSpPr>
        <p:spPr>
          <a:xfrm>
            <a:off x="9875520" y="16002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Gemini + Claude — icôn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6922" y="1841602"/>
            <a:ext cx="523037" cy="5230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98280" y="2788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Gemini + Claude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909828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5"/>
                </a:solidFill>
              </a:rPr>
              <a:t>recherche et rédaction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Render (hébergement)  ·  GitHub Actions  ·  CamPay  ·  Google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4"/>
                </a:solidFill>
              </a:rPr>
              <a:t>520+ tests automatisés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a fait quoi</a:t>
            </a:r>
            <a:endParaRPr lang="en-US" sz="4000" dirty="0"/>
          </a:p>
        </p:txBody>
      </p:sp>
      <p:sp>
        <p:nvSpPr>
          <p:cNvPr id="3" name="Carte Bitep Christian"/>
          <p:cNvSpPr/>
          <p:nvPr/>
        </p:nvSpPr>
        <p:spPr>
          <a:xfrm>
            <a:off x="731520" y="146304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Bitep Christian — pastille"/>
          <p:cNvSpPr/>
          <p:nvPr/>
        </p:nvSpPr>
        <p:spPr>
          <a:xfrm>
            <a:off x="100584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itep Christian —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05" y="1912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37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Bitep Christian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60604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Chef de groupe. Backend : API, recherche et IA</a:t>
            </a:r>
            <a:endParaRPr lang="en-US" sz="2400" dirty="0"/>
          </a:p>
        </p:txBody>
      </p:sp>
      <p:sp>
        <p:nvSpPr>
          <p:cNvPr id="8" name="Carte Diloua Angel"/>
          <p:cNvSpPr/>
          <p:nvPr/>
        </p:nvSpPr>
        <p:spPr>
          <a:xfrm>
            <a:off x="4389120" y="146304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Diloua Angel — pastille"/>
          <p:cNvSpPr/>
          <p:nvPr/>
        </p:nvSpPr>
        <p:spPr>
          <a:xfrm>
            <a:off x="466344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iloua Angel —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005" y="19129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737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Diloua Angel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60604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Frontend : l'interface Angular</a:t>
            </a:r>
            <a:endParaRPr lang="en-US" sz="2400" dirty="0"/>
          </a:p>
        </p:txBody>
      </p:sp>
      <p:sp>
        <p:nvSpPr>
          <p:cNvPr id="13" name="Carte Elock Fidèle"/>
          <p:cNvSpPr/>
          <p:nvPr/>
        </p:nvSpPr>
        <p:spPr>
          <a:xfrm>
            <a:off x="8046720" y="146304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4" name="Elock Fidèle — pastille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Elock Fidèle —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19129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89720" y="1737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Elock Fidèle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0604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Données : corpus OHADA et vectorisation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et apprentissages</a:t>
            </a:r>
            <a:endParaRPr lang="en-US" sz="4000" dirty="0"/>
          </a:p>
        </p:txBody>
      </p:sp>
      <p:sp>
        <p:nvSpPr>
          <p:cNvPr id="3" name="Base gratuite expirée — pastille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Base gratuite expirée —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773936"/>
            <a:ext cx="4754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4630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Base gratuite expirée</a:t>
            </a:r>
            <a:endParaRPr lang="en-US" sz="2400" dirty="0"/>
          </a:p>
        </p:txBody>
      </p:sp>
      <p:sp>
        <p:nvSpPr>
          <p:cNvPr id="6" name="Flèche difficulté 0"/>
          <p:cNvSpPr/>
          <p:nvPr/>
        </p:nvSpPr>
        <p:spPr>
          <a:xfrm>
            <a:off x="6263640" y="1847088"/>
            <a:ext cx="457200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49440" y="1463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migration vers Neon + sonde de surveillance</a:t>
            </a:r>
            <a:endParaRPr lang="en-US" sz="2400" dirty="0"/>
          </a:p>
        </p:txBody>
      </p:sp>
      <p:sp>
        <p:nvSpPr>
          <p:cNvPr id="8" name="IA qui invente des articles — pastille"/>
          <p:cNvSpPr/>
          <p:nvPr/>
        </p:nvSpPr>
        <p:spPr>
          <a:xfrm>
            <a:off x="731520" y="3154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A qui invente des articles —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37413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20240" y="3063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IA qui invente des articles</a:t>
            </a:r>
            <a:endParaRPr lang="en-US" sz="2400" dirty="0"/>
          </a:p>
        </p:txBody>
      </p:sp>
      <p:sp>
        <p:nvSpPr>
          <p:cNvPr id="11" name="Flèche difficulté 1"/>
          <p:cNvSpPr/>
          <p:nvPr/>
        </p:nvSpPr>
        <p:spPr>
          <a:xfrm>
            <a:off x="6263640" y="3447288"/>
            <a:ext cx="457200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949440" y="30632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chaque citation vérifiée, sinon refus</a:t>
            </a:r>
            <a:endParaRPr lang="en-US" sz="2400" dirty="0"/>
          </a:p>
        </p:txBody>
      </p:sp>
      <p:sp>
        <p:nvSpPr>
          <p:cNvPr id="13" name="Quota d'IA gratuit limité — pastille"/>
          <p:cNvSpPr/>
          <p:nvPr/>
        </p:nvSpPr>
        <p:spPr>
          <a:xfrm>
            <a:off x="731520" y="47548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Quota d'IA gratuit limité —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97433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20240" y="4663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Quota d'IA gratuit limité</a:t>
            </a:r>
            <a:endParaRPr lang="en-US" sz="2400" dirty="0"/>
          </a:p>
        </p:txBody>
      </p:sp>
      <p:sp>
        <p:nvSpPr>
          <p:cNvPr id="16" name="Flèche difficulté 2"/>
          <p:cNvSpPr/>
          <p:nvPr/>
        </p:nvSpPr>
        <p:spPr>
          <a:xfrm>
            <a:off x="6263640" y="5047488"/>
            <a:ext cx="457200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949440" y="4663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vectorisation par lots, textes clés d'abord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4000" dirty="0"/>
          </a:p>
        </p:txBody>
      </p:sp>
      <p:sp>
        <p:nvSpPr>
          <p:cNvPr id="3" name="Carte Codes fiscaux d'autres pays OHADA"/>
          <p:cNvSpPr/>
          <p:nvPr/>
        </p:nvSpPr>
        <p:spPr>
          <a:xfrm>
            <a:off x="731520" y="1600200"/>
            <a:ext cx="52120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Codes fiscaux d'autres pays OHADA — pastille"/>
          <p:cNvSpPr/>
          <p:nvPr/>
        </p:nvSpPr>
        <p:spPr>
          <a:xfrm>
            <a:off x="1051560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des fiscaux d'autres pays OHADA —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2768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8745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Codes fiscaux d'autres pays OHADA</a:t>
            </a:r>
            <a:endParaRPr lang="en-US" sz="2400" dirty="0"/>
          </a:p>
        </p:txBody>
      </p:sp>
      <p:sp>
        <p:nvSpPr>
          <p:cNvPr id="7" name="Carte Évaluation automatique de la qualité"/>
          <p:cNvSpPr/>
          <p:nvPr/>
        </p:nvSpPr>
        <p:spPr>
          <a:xfrm>
            <a:off x="6217920" y="1600200"/>
            <a:ext cx="52120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Évaluation automatique de la qualité — pastille"/>
          <p:cNvSpPr/>
          <p:nvPr/>
        </p:nvSpPr>
        <p:spPr>
          <a:xfrm>
            <a:off x="6537960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Évaluation automatique de la qualité —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27685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26680" y="18745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Évaluation automatique de la qualité</a:t>
            </a:r>
            <a:endParaRPr lang="en-US" sz="2400" dirty="0"/>
          </a:p>
        </p:txBody>
      </p:sp>
      <p:sp>
        <p:nvSpPr>
          <p:cNvPr id="11" name="Carte Réponses plus rapides"/>
          <p:cNvSpPr/>
          <p:nvPr/>
        </p:nvSpPr>
        <p:spPr>
          <a:xfrm>
            <a:off x="731520" y="3794760"/>
            <a:ext cx="52120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Réponses plus rapides — pastille"/>
          <p:cNvSpPr/>
          <p:nvPr/>
        </p:nvSpPr>
        <p:spPr>
          <a:xfrm>
            <a:off x="1051560" y="42519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Réponses plus rapides —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016" y="447141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40280" y="4069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Réponses plus rapides</a:t>
            </a:r>
            <a:endParaRPr lang="en-US" sz="2400" dirty="0"/>
          </a:p>
        </p:txBody>
      </p:sp>
      <p:sp>
        <p:nvSpPr>
          <p:cNvPr id="15" name="Carte Publication sur le Play Store"/>
          <p:cNvSpPr/>
          <p:nvPr/>
        </p:nvSpPr>
        <p:spPr>
          <a:xfrm>
            <a:off x="6217920" y="3794760"/>
            <a:ext cx="52120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6" name="Publication sur le Play Store — pastille"/>
          <p:cNvSpPr/>
          <p:nvPr/>
        </p:nvSpPr>
        <p:spPr>
          <a:xfrm>
            <a:off x="6537960" y="42519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ublication sur le Play Store — icôn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47141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26680" y="4069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Publication sur le Play Store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chemeClr val="accent1"/>
                </a:solidFill>
              </a:rPr>
              <a:t>à Orange Digital Center et à nos formateurs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Application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chatdocs-web.onrender.com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 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Code source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github.com/ODC-ANGULAR-TALENT-LAB/Projet-de-Groupe-ChatDoc-OHADA-</a:t>
            </a:r>
            <a:endParaRPr lang="en-US" sz="2400" dirty="0"/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ChatDocs OHADA">
  <a:themeElements>
    <a:clrScheme name="ChatDocs OHADA">
      <a:dk1>
        <a:srgbClr val="1C1C1C"/>
      </a:dk1>
      <a:lt1>
        <a:srgbClr val="FFFFFF"/>
      </a:lt1>
      <a:dk2>
        <a:srgbClr val="1B2A4A"/>
      </a:dk2>
      <a:lt2>
        <a:srgbClr val="F4F2EC"/>
      </a:lt2>
      <a:accent1>
        <a:srgbClr val="C9A227"/>
      </a:accent1>
      <a:accent2>
        <a:srgbClr val="2B3D63"/>
      </a:accent2>
      <a:accent3>
        <a:srgbClr val="2A7D4F"/>
      </a:accent3>
      <a:accent4>
        <a:srgbClr val="A5851F"/>
      </a:accent4>
      <a:accent5>
        <a:srgbClr val="5F5F5F"/>
      </a:accent5>
      <a:accent6>
        <a:srgbClr val="F2E7C4"/>
      </a:accent6>
      <a:hlink>
        <a:srgbClr val="C9A227"/>
      </a:hlink>
      <a:folHlink>
        <a:srgbClr val="A5851F"/>
      </a:folHlink>
    </a:clrScheme>
    <a:fontScheme name="ChatDocs OHA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391</Words>
  <Application>Microsoft Office PowerPoint</Application>
  <PresentationFormat>Grand écran</PresentationFormat>
  <Paragraphs>89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ChatDocs OHADA</vt:lpstr>
      <vt:lpstr>ChatDocs OHADA</vt:lpstr>
      <vt:lpstr>Trouver la règle exacte prend des heures</vt:lpstr>
      <vt:lpstr>La solution</vt:lpstr>
      <vt:lpstr>Fonctionnalités clés</vt:lpstr>
      <vt:lpstr>Démo live</vt:lpstr>
      <vt:lpstr>Stack technique</vt:lpstr>
      <vt:lpstr>Qui a fait quoi</vt:lpstr>
      <vt:lpstr>Difficultés et apprentissages</vt:lpstr>
      <vt:lpstr>Perspectives</vt:lpstr>
      <vt:lpstr>Merci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ChatDocs OHADA — Demo Day</dc:title>
  <dc:subject>PptxGenJS Presentation</dc:subject>
  <dc:creator>Groupe 6</dc:creator>
  <cp:lastModifiedBy>CHRISTIAN</cp:lastModifiedBy>
  <cp:revision>2</cp:revision>
  <dcterms:created xsi:type="dcterms:W3CDTF">2026-10-19T04:21:35Z</dcterms:created>
  <dcterms:modified xsi:type="dcterms:W3CDTF">2026-10-19T04:38:32Z</dcterms:modified>
</cp:coreProperties>
</file>